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embeddedFontLst>
    <p:embeddedFont>
      <p:font typeface="DM Sans" pitchFamily="34"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Bugün size Veri Nimet kapsamında geliştirdiğimiz SWIFT gpi Pulse’u tanıtacağım. Bu, bankamızdan çıkan yurt dışı ödemelerin alıcı hesabına ne kadar sürede geçtiğini, ve bu sürenin nerede harcandığını gösteren bir analiz platformu.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Projenin çıkış noktası şu: müşteri için önemli olan ödemenin alıcı hesabına toplamda ne kadar sürede geçtiği. Bu süre bankamızdan çıkış, muhabir bankalar ve alıcı banka aşamalarından oluşuyor. Ancak bir transferin 6 saat sürdüğünü bilmek yetmiyor; asıl soru bu 6 saatin ne kadarının muhabir bankalarda, ne kadarının alıcı bankada geçtiği. Çünkü iyileştirme ancak bunu bildiğimizde mümkün.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Yöntemimiz şu: her ödemenin yaşam döngüsünü dört noktada yakalıyoruz. Çıkış zamanı; ileri valörlü işlemlerde valör günü esas alınıyor. Sonra gpi takip mesajlarıyla rotayı izliyoruz, alıcı bankanın ilk göründüğü anı ulaşma olarak alıyoruz ve alıcı bankanın kendi ACCC kaydını sonuç kabul ediyoruz. Böylece toplam süre muhabir ağı ve alıcı banka olarak ikiye ayrılıyor. Raporlarda ortalamayı P95 ile, yani en uç değerleri dışarıda bırakarak veriyoruz.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bulguları sürekli takip edebilmek için bir platform geliştirdik. Genel Bakış sayfası tek ekranda ortalama süreyi, aynı gün oranını ve sürenin muhabir ile alıcı banka arasında nasıl bölündüğünü gösteriyor. Üstteki filtrelerle tarih, döviz, ülke ya da banka seçerek her şeyi anında daraltabiliyoruz. Platform yerelde, tarayıcıdan bir linkle açılıyor.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analizi tarafında iki önemli görünüm var. Dünya Haritası, ödeme akışlarımızı ülkelere doğru 3D bir küre üzerinde gösteriyor; bir ülkeye tıklayınca detayı açılıyor. Süreç Analizi ise sürenin ülke ve döviz bazında hangi aşamada harcandığını, hangi saat ve günlerde yavaşlama olduğunu gösteriyor. Örneğin 17:00 sonrası gönderilen ödemeler belirgin şekilde daha uzun sürüyor.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Koridorlar sayfasında bir ülke seçiyoruz, ardından isterseniz alıcı bankayı; o ülkeye hangi muhabirlerle, hangi dövizde, ne kadar sürede gönderim yaptığımızı görüyoruz. Örneğin Türkiye koridorunda ortalama 1,6 saat ve yüzde 95 aynı gün. Banka Karnesi ise alıcı ve muhabir bankaları hız, tutarlılık, aynı gün oranı, tamamlanma ve red oranına göre 0–100 arası skorluyor. Bu, muhabir seçimi ve banka görüşmeleri için somut bir dayanak sağlıyor.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Tahminleme sayfası özellikle şube ve müşteri temsilcileri için. Ödeme bilgilerini giriyoruz; platform aynı ülke, döviz, banka ve saat dilimindeki geçmiş işlemlere bakarak bir varış zamanı veriyor. Örneğin Türkiye’ye USD ödemede ortalama 1,4 saat, yüzde 90 olasılıkla 5,6 saat içinde. Üstelik müşteriye doğrudan iletilebilecek hazır bir bilgilendirme metni de oluşturuyor. Bu, “ödemem ne zaman geçer” sorusuna veriye dayalı cevap demek.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Uyarılar sayfası operasyon ekibi için. Ödemeleri dört seviyede sınıflandırıyor: 24 saati aşıp hâlâ sonuçlanmayanlar kritik, reddedilenler yüksek, ülke ortalamasının üç katını aşanlar orta seviye. Bunun yanında son yedi günde performansı belirgin şekilde bozulan alıcı ve muhabir bankaları da otomatik olarak listeliyor. Böylece sorunlara müşteri bizi aramadan önce müdahale edebiliyoruz.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olarak sonraki adımlar: veri akışını otomatikleştirip platformun her gün kendiliğinden güncellenmesini sağlamak, tahmin metinlerini müşteri iletişiminde kullanmak, banka karnelerine göre muhabir seçimi ve kesim saati önerileri geliştirmek, ve yönetim için aylık bir KPI raporu oluşturmak. Teşekkürler, sorularınızı alabilirim.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0261C"/>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0261C"/>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EEF5F0"/>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EEF5F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EEF5F0"/>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EEF5F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0261C"/>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0261C"/>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WIFT gpi Pulse platformunun Genel Bakış ekranı">    </p:cNvPr>
          <p:cNvPicPr>
            <a:picLocks noChangeAspect="1"/>
          </p:cNvPicPr>
          <p:nvPr/>
        </p:nvPicPr>
        <p:blipFill>
          <a:blip r:embed="rId1"/>
          <a:srcRect l="0" r="0" t="166" b="166"/>
          <a:stretch/>
        </p:blipFill>
        <p:spPr>
          <a:xfrm>
            <a:off x="5309791" y="1456531"/>
            <a:ext cx="6388100" cy="3581400"/>
          </a:xfrm>
          <a:prstGeom prst="roundRect">
            <a:avLst>
              <a:gd name="adj" fmla="val 3901"/>
            </a:avLst>
          </a:prstGeom>
          <a:effectLst>
            <a:outerShdw sx="100000" sy="100000" kx="0" ky="0" algn="bl" rotWithShape="0" blurRad="508000" dist="152400" dir="5400000">
              <a:srgbClr val="000000">
                <a:alpha val="45000"/>
              </a:srgbClr>
            </a:outerShdw>
          </a:effectLst>
        </p:spPr>
      </p:pic>
      <p:sp>
        <p:nvSpPr>
          <p:cNvPr id="3" name="Shape 0"/>
          <p:cNvSpPr/>
          <p:nvPr/>
        </p:nvSpPr>
        <p:spPr>
          <a:xfrm>
            <a:off x="5303441" y="1450181"/>
            <a:ext cx="6400800" cy="3594100"/>
          </a:xfrm>
          <a:prstGeom prst="roundRect">
            <a:avLst>
              <a:gd name="adj" fmla="val 4064"/>
            </a:avLst>
          </a:prstGeom>
          <a:noFill/>
          <a:ln w="12700">
            <a:solidFill>
              <a:srgbClr val="2BC77A"/>
            </a:solidFill>
            <a:prstDash val="solid"/>
          </a:ln>
        </p:spPr>
      </p:sp>
      <p:sp>
        <p:nvSpPr>
          <p:cNvPr id="4" name="Text 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C5B5"/>
                </a:solidFill>
                <a:latin typeface="DM Sans" pitchFamily="34" charset="0"/>
                <a:ea typeface="DM Sans" pitchFamily="34" charset="-122"/>
                <a:cs typeface="DM Sans" pitchFamily="34" charset="-120"/>
              </a:rPr>
              <a:t>Kuveyt Türk · Ekim 2026</a:t>
            </a:r>
            <a:endParaRPr lang="en-US" sz="1200" dirty="0"/>
          </a:p>
        </p:txBody>
      </p:sp>
      <p:sp>
        <p:nvSpPr>
          <p:cNvPr id="5" name="Text 2"/>
          <p:cNvSpPr/>
          <p:nvPr/>
        </p:nvSpPr>
        <p:spPr>
          <a:xfrm>
            <a:off x="812800" y="2032000"/>
            <a:ext cx="5232400"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BC77A"/>
                </a:solidFill>
                <a:latin typeface="DM Sans" pitchFamily="34" charset="0"/>
                <a:ea typeface="DM Sans" pitchFamily="34" charset="-122"/>
                <a:cs typeface="DM Sans" pitchFamily="34" charset="-120"/>
              </a:rPr>
              <a:t>VERI NIMET PROJESI</a:t>
            </a:r>
            <a:endParaRPr lang="en-US" sz="1300" dirty="0"/>
          </a:p>
        </p:txBody>
      </p:sp>
      <p:sp>
        <p:nvSpPr>
          <p:cNvPr id="6" name="Text 3"/>
          <p:cNvSpPr/>
          <p:nvPr>
            <p:ph type="title"/>
          </p:nvPr>
        </p:nvSpPr>
        <p:spPr>
          <a:xfrm>
            <a:off x="812800" y="2470150"/>
            <a:ext cx="5363210"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EEF5F0"/>
                </a:solidFill>
                <a:latin typeface="DM Sans" pitchFamily="34" charset="0"/>
                <a:ea typeface="DM Sans" pitchFamily="34" charset="-122"/>
                <a:cs typeface="DM Sans" pitchFamily="34" charset="-120"/>
              </a:rPr>
              <a:t>SWIFT gpi Pulse</a:t>
            </a:r>
            <a:endParaRPr lang="en-US" sz="5600" dirty="0"/>
          </a:p>
        </p:txBody>
      </p:sp>
      <p:sp>
        <p:nvSpPr>
          <p:cNvPr id="7" name="Text 4"/>
          <p:cNvSpPr/>
          <p:nvPr/>
        </p:nvSpPr>
        <p:spPr>
          <a:xfrm>
            <a:off x="812800" y="4147592"/>
            <a:ext cx="4179379"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DD2"/>
                </a:solidFill>
                <a:latin typeface="DM Sans" pitchFamily="34" charset="0"/>
                <a:ea typeface="DM Sans" pitchFamily="34" charset="-122"/>
                <a:cs typeface="DM Sans" pitchFamily="34" charset="-120"/>
              </a:rPr>
              <a:t>Giden SWIFT ödemelerinde uçtan uca süre ve performans analizi</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61C"/>
                </a:solidFill>
                <a:latin typeface="DM Sans" pitchFamily="34" charset="0"/>
                <a:ea typeface="DM Sans" pitchFamily="34" charset="-122"/>
                <a:cs typeface="DM Sans" pitchFamily="34" charset="-120"/>
              </a:rPr>
              <a:t>Toplam süre tek başına yetmiyor</a:t>
            </a:r>
            <a:endParaRPr lang="en-US" sz="3200" dirty="0"/>
          </a:p>
        </p:txBody>
      </p:sp>
      <p:sp>
        <p:nvSpPr>
          <p:cNvPr id="3" name="Text 1"/>
          <p:cNvSpPr/>
          <p:nvPr/>
        </p:nvSpPr>
        <p:spPr>
          <a:xfrm>
            <a:off x="812800" y="1635720"/>
            <a:ext cx="4578350" cy="149855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3584D"/>
                </a:solidFill>
                <a:latin typeface="DM Sans" pitchFamily="34" charset="0"/>
                <a:ea typeface="DM Sans" pitchFamily="34" charset="-122"/>
                <a:cs typeface="DM Sans" pitchFamily="34" charset="-120"/>
              </a:rPr>
              <a:t>“Müşteri, ödemesine bir bütün olarak bakar: önemli olan </a:t>
            </a:r>
            <a:r>
              <a:rPr lang="en-US" sz="1600" b="1" dirty="0">
                <a:solidFill>
                  <a:srgbClr val="43584D"/>
                </a:solidFill>
                <a:latin typeface="DM Sans" pitchFamily="34" charset="0"/>
                <a:ea typeface="DM Sans" pitchFamily="34" charset="-122"/>
                <a:cs typeface="DM Sans" pitchFamily="34" charset="-120"/>
              </a:rPr>
              <a:t>paranın alıcı hesabına ne kadar sürede geçtiğidir</a:t>
            </a:r>
            <a:r>
              <a:rPr lang="en-US" sz="1600" dirty="0">
                <a:solidFill>
                  <a:srgbClr val="43584D"/>
                </a:solidFill>
                <a:latin typeface="DM Sans" pitchFamily="34" charset="0"/>
                <a:ea typeface="DM Sans" pitchFamily="34" charset="-122"/>
                <a:cs typeface="DM Sans" pitchFamily="34" charset="-120"/>
              </a:rPr>
              <a:t>. Bu toplam süre; bankamızdan çıkış, muhabir bankalar ve alıcı banka aşamalarından oluşur.”</a:t>
            </a:r>
            <a:endParaRPr lang="en-US" sz="1600" dirty="0"/>
          </a:p>
        </p:txBody>
      </p:sp>
      <p:sp>
        <p:nvSpPr>
          <p:cNvPr id="4" name="Text 2"/>
          <p:cNvSpPr/>
          <p:nvPr/>
        </p:nvSpPr>
        <p:spPr>
          <a:xfrm>
            <a:off x="812800" y="3286671"/>
            <a:ext cx="457835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3584D"/>
                </a:solidFill>
                <a:latin typeface="DM Sans" pitchFamily="34" charset="0"/>
                <a:ea typeface="DM Sans" pitchFamily="34" charset="-122"/>
                <a:cs typeface="DM Sans" pitchFamily="34" charset="-120"/>
              </a:rPr>
              <a:t>Gecikmenin hangi aşamada oluştuğunu bilmeden operasyonel iyileştirme yapılamaz.</a:t>
            </a:r>
            <a:endParaRPr lang="en-US" sz="1600" dirty="0"/>
          </a:p>
        </p:txBody>
      </p:sp>
      <p:sp>
        <p:nvSpPr>
          <p:cNvPr id="5" name="Shape 3"/>
          <p:cNvSpPr/>
          <p:nvPr/>
        </p:nvSpPr>
        <p:spPr>
          <a:xfrm>
            <a:off x="5718175" y="1638895"/>
            <a:ext cx="5657850" cy="2575520"/>
          </a:xfrm>
          <a:prstGeom prst="roundRect">
            <a:avLst>
              <a:gd name="adj" fmla="val 5794"/>
            </a:avLst>
          </a:prstGeom>
          <a:solidFill>
            <a:srgbClr val="FBFCF9"/>
          </a:solidFill>
          <a:ln w="6350">
            <a:solidFill>
              <a:srgbClr val="D5E0D7"/>
            </a:solidFill>
            <a:prstDash val="solid"/>
          </a:ln>
        </p:spPr>
      </p:sp>
      <p:sp>
        <p:nvSpPr>
          <p:cNvPr id="6" name="Text 4"/>
          <p:cNvSpPr/>
          <p:nvPr/>
        </p:nvSpPr>
        <p:spPr>
          <a:xfrm>
            <a:off x="6026150" y="1946870"/>
            <a:ext cx="5193157"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E7A3C"/>
                </a:solidFill>
                <a:latin typeface="DM Sans" pitchFamily="34" charset="0"/>
                <a:ea typeface="DM Sans" pitchFamily="34" charset="-122"/>
                <a:cs typeface="DM Sans" pitchFamily="34" charset="-120"/>
              </a:rPr>
              <a:t>ÖRNEK · 6 SAATLIK BIR TRANSFER</a:t>
            </a:r>
            <a:endParaRPr lang="en-US" sz="1300" dirty="0"/>
          </a:p>
        </p:txBody>
      </p:sp>
      <p:sp>
        <p:nvSpPr>
          <p:cNvPr id="7" name="Shape 5"/>
          <p:cNvSpPr/>
          <p:nvPr/>
        </p:nvSpPr>
        <p:spPr>
          <a:xfrm>
            <a:off x="6026150" y="2355800"/>
            <a:ext cx="420142" cy="457200"/>
          </a:xfrm>
          <a:custGeom>
            <a:avLst/>
            <a:gdLst/>
            <a:ahLst/>
            <a:cxnLst/>
            <a:rect l="l" t="t" r="r" b="b"/>
            <a:pathLst>
              <a:path w="420142" h="457200">
                <a:moveTo>
                  <a:pt x="0" y="76200"/>
                </a:moveTo>
                <a:arcTo hR="76200" wR="76200" stAng="10800000" swAng="5400000"/>
                <a:lnTo>
                  <a:pt x="420142" y="0"/>
                </a:lnTo>
                <a:lnTo>
                  <a:pt x="420142" y="457200"/>
                </a:lnTo>
                <a:lnTo>
                  <a:pt x="76200" y="457200"/>
                </a:lnTo>
                <a:arcTo hR="76200" wR="76200" stAng="5400000" swAng="5400000"/>
                <a:close/>
              </a:path>
            </a:pathLst>
          </a:custGeom>
          <a:solidFill>
            <a:srgbClr val="2F6FE0"/>
          </a:solidFill>
          <a:ln/>
        </p:spPr>
      </p:sp>
      <p:sp>
        <p:nvSpPr>
          <p:cNvPr id="8" name="Shape 6"/>
          <p:cNvSpPr/>
          <p:nvPr/>
        </p:nvSpPr>
        <p:spPr>
          <a:xfrm>
            <a:off x="6446292" y="2355800"/>
            <a:ext cx="4621758" cy="457200"/>
          </a:xfrm>
          <a:custGeom>
            <a:avLst/>
            <a:gdLst/>
            <a:ahLst/>
            <a:cxnLst/>
            <a:rect l="l" t="t" r="r" b="b"/>
            <a:pathLst>
              <a:path w="4621758" h="457200">
                <a:moveTo>
                  <a:pt x="4545558" y="0"/>
                </a:moveTo>
                <a:arcTo hR="76200" wR="76200" stAng="16200000" swAng="5400000"/>
                <a:lnTo>
                  <a:pt x="4621758" y="381000"/>
                </a:lnTo>
                <a:arcTo hR="76200" wR="76200" stAng="0" swAng="5400000"/>
                <a:lnTo>
                  <a:pt x="0" y="457200"/>
                </a:lnTo>
                <a:lnTo>
                  <a:pt x="0" y="0"/>
                </a:lnTo>
                <a:close/>
              </a:path>
            </a:pathLst>
          </a:custGeom>
          <a:solidFill>
            <a:srgbClr val="D9622B"/>
          </a:solidFill>
          <a:ln/>
        </p:spPr>
      </p:sp>
      <p:sp>
        <p:nvSpPr>
          <p:cNvPr id="9" name="Text 7"/>
          <p:cNvSpPr/>
          <p:nvPr/>
        </p:nvSpPr>
        <p:spPr>
          <a:xfrm>
            <a:off x="6026150" y="2990800"/>
            <a:ext cx="180320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E0"/>
                </a:solidFill>
                <a:latin typeface="DM Sans" pitchFamily="34" charset="0"/>
                <a:ea typeface="DM Sans" pitchFamily="34" charset="-122"/>
                <a:cs typeface="DM Sans" pitchFamily="34" charset="-120"/>
              </a:rPr>
              <a:t>30 dk</a:t>
            </a:r>
            <a:r>
              <a:rPr lang="en-US" sz="1400" dirty="0">
                <a:solidFill>
                  <a:srgbClr val="2F6FE0"/>
                </a:solidFill>
                <a:latin typeface="DM Sans" pitchFamily="34" charset="0"/>
                <a:ea typeface="DM Sans" pitchFamily="34" charset="-122"/>
                <a:cs typeface="DM Sans" pitchFamily="34" charset="-120"/>
              </a:rPr>
              <a:t> muhabir ağı</a:t>
            </a:r>
            <a:endParaRPr lang="en-US" sz="1400" dirty="0"/>
          </a:p>
        </p:txBody>
      </p:sp>
      <p:sp>
        <p:nvSpPr>
          <p:cNvPr id="10" name="Text 8"/>
          <p:cNvSpPr/>
          <p:nvPr/>
        </p:nvSpPr>
        <p:spPr>
          <a:xfrm>
            <a:off x="8915340" y="2990800"/>
            <a:ext cx="2152710"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B4501F"/>
                </a:solidFill>
                <a:latin typeface="DM Sans" pitchFamily="34" charset="0"/>
                <a:ea typeface="DM Sans" pitchFamily="34" charset="-122"/>
                <a:cs typeface="DM Sans" pitchFamily="34" charset="-120"/>
              </a:rPr>
              <a:t>5 sa 30 dk</a:t>
            </a:r>
            <a:r>
              <a:rPr lang="en-US" sz="1400" dirty="0">
                <a:solidFill>
                  <a:srgbClr val="B4501F"/>
                </a:solidFill>
                <a:latin typeface="DM Sans" pitchFamily="34" charset="0"/>
                <a:ea typeface="DM Sans" pitchFamily="34" charset="-122"/>
                <a:cs typeface="DM Sans" pitchFamily="34" charset="-120"/>
              </a:rPr>
              <a:t> alıcı banka</a:t>
            </a:r>
            <a:endParaRPr lang="en-US" sz="1400" dirty="0"/>
          </a:p>
        </p:txBody>
      </p:sp>
      <p:pic>
        <p:nvPicPr>
          <p:cNvPr id="11" name="Image 0" descr="line">    </p:cNvPr>
          <p:cNvPicPr>
            <a:picLocks noChangeAspect="1"/>
          </p:cNvPicPr>
          <p:nvPr/>
        </p:nvPicPr>
        <p:blipFill>
          <a:blip r:embed="rId1"/>
          <a:srcRect l="0" r="0" t="0" b="0"/>
          <a:stretch/>
        </p:blipFill>
        <p:spPr>
          <a:xfrm>
            <a:off x="6026150" y="3417491"/>
            <a:ext cx="5041900" cy="6350"/>
          </a:xfrm>
          <a:prstGeom prst="rect">
            <a:avLst/>
          </a:prstGeom>
        </p:spPr>
      </p:pic>
      <p:sp>
        <p:nvSpPr>
          <p:cNvPr id="12" name="Text 9"/>
          <p:cNvSpPr/>
          <p:nvPr/>
        </p:nvSpPr>
        <p:spPr>
          <a:xfrm>
            <a:off x="6026150" y="3601641"/>
            <a:ext cx="51931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61C"/>
                </a:solidFill>
                <a:latin typeface="DM Sans" pitchFamily="34" charset="0"/>
                <a:ea typeface="DM Sans" pitchFamily="34" charset="-122"/>
                <a:cs typeface="DM Sans" pitchFamily="34" charset="-120"/>
              </a:rPr>
              <a:t>Bu süre nerede harcanıyor?</a:t>
            </a:r>
            <a:endParaRPr lang="en-US" sz="20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73"/>
                </a:solidFill>
                <a:latin typeface="DM Sans" pitchFamily="34" charset="0"/>
                <a:ea typeface="DM Sans" pitchFamily="34" charset="-122"/>
                <a:cs typeface="DM Sans" pitchFamily="34" charset="-120"/>
              </a:rPr>
              <a:t>SWIFT gpi Pulse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61C"/>
                </a:solidFill>
                <a:latin typeface="DM Sans" pitchFamily="34" charset="0"/>
                <a:ea typeface="DM Sans" pitchFamily="34" charset="-122"/>
                <a:cs typeface="DM Sans" pitchFamily="34" charset="-120"/>
              </a:rPr>
              <a:t>Her ödemeyi dört noktada ölçüyoruz</a:t>
            </a:r>
            <a:endParaRPr lang="en-US" sz="3200" dirty="0"/>
          </a:p>
        </p:txBody>
      </p:sp>
      <p:sp>
        <p:nvSpPr>
          <p:cNvPr id="3" name="Shape 1"/>
          <p:cNvSpPr/>
          <p:nvPr/>
        </p:nvSpPr>
        <p:spPr>
          <a:xfrm>
            <a:off x="815975" y="1588095"/>
            <a:ext cx="2520950" cy="1774130"/>
          </a:xfrm>
          <a:prstGeom prst="roundRect">
            <a:avLst>
              <a:gd name="adj" fmla="val 6979"/>
            </a:avLst>
          </a:prstGeom>
          <a:solidFill>
            <a:srgbClr val="FBFCF9"/>
          </a:solidFill>
          <a:ln w="6350">
            <a:solidFill>
              <a:srgbClr val="D5E0D7"/>
            </a:solidFill>
            <a:prstDash val="solid"/>
          </a:ln>
        </p:spPr>
      </p:sp>
      <p:sp>
        <p:nvSpPr>
          <p:cNvPr id="4" name="Text 2"/>
          <p:cNvSpPr/>
          <p:nvPr/>
        </p:nvSpPr>
        <p:spPr>
          <a:xfrm>
            <a:off x="1022350" y="1794470"/>
            <a:ext cx="217144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A3C"/>
                </a:solidFill>
                <a:latin typeface="DM Sans" pitchFamily="34" charset="0"/>
                <a:ea typeface="DM Sans" pitchFamily="34" charset="-122"/>
                <a:cs typeface="DM Sans" pitchFamily="34" charset="-120"/>
              </a:rPr>
              <a:t>01</a:t>
            </a:r>
            <a:endParaRPr lang="en-US" sz="1300" dirty="0"/>
          </a:p>
        </p:txBody>
      </p:sp>
      <p:sp>
        <p:nvSpPr>
          <p:cNvPr id="5" name="Text 3"/>
          <p:cNvSpPr/>
          <p:nvPr/>
        </p:nvSpPr>
        <p:spPr>
          <a:xfrm>
            <a:off x="1022350" y="2114500"/>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261C"/>
                </a:solidFill>
                <a:latin typeface="DM Sans" pitchFamily="34" charset="0"/>
                <a:ea typeface="DM Sans" pitchFamily="34" charset="-122"/>
                <a:cs typeface="DM Sans" pitchFamily="34" charset="-120"/>
              </a:rPr>
              <a:t>Çıkış</a:t>
            </a:r>
            <a:endParaRPr lang="en-US" sz="1700" dirty="0"/>
          </a:p>
        </p:txBody>
      </p:sp>
      <p:sp>
        <p:nvSpPr>
          <p:cNvPr id="6" name="Text 4"/>
          <p:cNvSpPr/>
          <p:nvPr/>
        </p:nvSpPr>
        <p:spPr>
          <a:xfrm>
            <a:off x="1022350" y="246246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Ödeme mesajının oluşturulduğu an; ileri valörlüde valör günü</a:t>
            </a:r>
            <a:endParaRPr lang="en-US" sz="1300" dirty="0"/>
          </a:p>
        </p:txBody>
      </p:sp>
      <p:sp>
        <p:nvSpPr>
          <p:cNvPr id="7" name="Shape 5"/>
          <p:cNvSpPr/>
          <p:nvPr/>
        </p:nvSpPr>
        <p:spPr>
          <a:xfrm>
            <a:off x="3495675" y="1588095"/>
            <a:ext cx="2520950" cy="1774130"/>
          </a:xfrm>
          <a:prstGeom prst="roundRect">
            <a:avLst>
              <a:gd name="adj" fmla="val 6979"/>
            </a:avLst>
          </a:prstGeom>
          <a:solidFill>
            <a:srgbClr val="FBFCF9"/>
          </a:solidFill>
          <a:ln w="6350">
            <a:solidFill>
              <a:srgbClr val="D5E0D7"/>
            </a:solidFill>
            <a:prstDash val="solid"/>
          </a:ln>
        </p:spPr>
      </p:sp>
      <p:sp>
        <p:nvSpPr>
          <p:cNvPr id="8" name="Text 6"/>
          <p:cNvSpPr/>
          <p:nvPr/>
        </p:nvSpPr>
        <p:spPr>
          <a:xfrm>
            <a:off x="3702050" y="1794470"/>
            <a:ext cx="217144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0"/>
                </a:solidFill>
                <a:latin typeface="DM Sans" pitchFamily="34" charset="0"/>
                <a:ea typeface="DM Sans" pitchFamily="34" charset="-122"/>
                <a:cs typeface="DM Sans" pitchFamily="34" charset="-120"/>
              </a:rPr>
              <a:t>02</a:t>
            </a:r>
            <a:endParaRPr lang="en-US" sz="1300" dirty="0"/>
          </a:p>
        </p:txBody>
      </p:sp>
      <p:sp>
        <p:nvSpPr>
          <p:cNvPr id="9" name="Text 7"/>
          <p:cNvSpPr/>
          <p:nvPr/>
        </p:nvSpPr>
        <p:spPr>
          <a:xfrm>
            <a:off x="3702050" y="2114500"/>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261C"/>
                </a:solidFill>
                <a:latin typeface="DM Sans" pitchFamily="34" charset="0"/>
                <a:ea typeface="DM Sans" pitchFamily="34" charset="-122"/>
                <a:cs typeface="DM Sans" pitchFamily="34" charset="-120"/>
              </a:rPr>
              <a:t>Muhabir ağı</a:t>
            </a:r>
            <a:endParaRPr lang="en-US" sz="1700" dirty="0"/>
          </a:p>
        </p:txBody>
      </p:sp>
      <p:sp>
        <p:nvSpPr>
          <p:cNvPr id="10" name="Text 8"/>
          <p:cNvSpPr/>
          <p:nvPr/>
        </p:nvSpPr>
        <p:spPr>
          <a:xfrm>
            <a:off x="3702050" y="246246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gpi takip kayıtlarıyla bankadan bankaya izlenen rota</a:t>
            </a:r>
            <a:endParaRPr lang="en-US" sz="1300" dirty="0"/>
          </a:p>
        </p:txBody>
      </p:sp>
      <p:sp>
        <p:nvSpPr>
          <p:cNvPr id="11" name="Shape 9"/>
          <p:cNvSpPr/>
          <p:nvPr/>
        </p:nvSpPr>
        <p:spPr>
          <a:xfrm>
            <a:off x="6175375" y="1588095"/>
            <a:ext cx="2520950" cy="1774130"/>
          </a:xfrm>
          <a:prstGeom prst="roundRect">
            <a:avLst>
              <a:gd name="adj" fmla="val 6979"/>
            </a:avLst>
          </a:prstGeom>
          <a:solidFill>
            <a:srgbClr val="FBFCF9"/>
          </a:solidFill>
          <a:ln w="6350">
            <a:solidFill>
              <a:srgbClr val="D5E0D7"/>
            </a:solidFill>
            <a:prstDash val="solid"/>
          </a:ln>
        </p:spPr>
      </p:sp>
      <p:sp>
        <p:nvSpPr>
          <p:cNvPr id="12" name="Text 10"/>
          <p:cNvSpPr/>
          <p:nvPr/>
        </p:nvSpPr>
        <p:spPr>
          <a:xfrm>
            <a:off x="6381750" y="1794470"/>
            <a:ext cx="217144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01F"/>
                </a:solidFill>
                <a:latin typeface="DM Sans" pitchFamily="34" charset="0"/>
                <a:ea typeface="DM Sans" pitchFamily="34" charset="-122"/>
                <a:cs typeface="DM Sans" pitchFamily="34" charset="-120"/>
              </a:rPr>
              <a:t>03</a:t>
            </a:r>
            <a:endParaRPr lang="en-US" sz="1300" dirty="0"/>
          </a:p>
        </p:txBody>
      </p:sp>
      <p:sp>
        <p:nvSpPr>
          <p:cNvPr id="13" name="Text 11"/>
          <p:cNvSpPr/>
          <p:nvPr/>
        </p:nvSpPr>
        <p:spPr>
          <a:xfrm>
            <a:off x="6381750" y="2114500"/>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261C"/>
                </a:solidFill>
                <a:latin typeface="DM Sans" pitchFamily="34" charset="0"/>
                <a:ea typeface="DM Sans" pitchFamily="34" charset="-122"/>
                <a:cs typeface="DM Sans" pitchFamily="34" charset="-120"/>
              </a:rPr>
              <a:t>Alıcıya ulaşma</a:t>
            </a:r>
            <a:endParaRPr lang="en-US" sz="1700" dirty="0"/>
          </a:p>
        </p:txBody>
      </p:sp>
      <p:sp>
        <p:nvSpPr>
          <p:cNvPr id="14" name="Text 12"/>
          <p:cNvSpPr/>
          <p:nvPr/>
        </p:nvSpPr>
        <p:spPr>
          <a:xfrm>
            <a:off x="6381750" y="2462461"/>
            <a:ext cx="21714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Alıcı bankanın rotada ilk göründüğü an</a:t>
            </a:r>
            <a:endParaRPr lang="en-US" sz="1300" dirty="0"/>
          </a:p>
        </p:txBody>
      </p:sp>
      <p:sp>
        <p:nvSpPr>
          <p:cNvPr id="15" name="Shape 13"/>
          <p:cNvSpPr/>
          <p:nvPr/>
        </p:nvSpPr>
        <p:spPr>
          <a:xfrm>
            <a:off x="8855075" y="1588095"/>
            <a:ext cx="2520950" cy="1774130"/>
          </a:xfrm>
          <a:prstGeom prst="roundRect">
            <a:avLst>
              <a:gd name="adj" fmla="val 6979"/>
            </a:avLst>
          </a:prstGeom>
          <a:solidFill>
            <a:srgbClr val="FBFCF9"/>
          </a:solidFill>
          <a:ln w="6350">
            <a:solidFill>
              <a:srgbClr val="D5E0D7"/>
            </a:solidFill>
            <a:prstDash val="solid"/>
          </a:ln>
        </p:spPr>
      </p:sp>
      <p:sp>
        <p:nvSpPr>
          <p:cNvPr id="16" name="Text 14"/>
          <p:cNvSpPr/>
          <p:nvPr/>
        </p:nvSpPr>
        <p:spPr>
          <a:xfrm>
            <a:off x="9061450" y="1794470"/>
            <a:ext cx="217144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261C"/>
                </a:solidFill>
                <a:latin typeface="DM Sans" pitchFamily="34" charset="0"/>
                <a:ea typeface="DM Sans" pitchFamily="34" charset="-122"/>
                <a:cs typeface="DM Sans" pitchFamily="34" charset="-120"/>
              </a:rPr>
              <a:t>04</a:t>
            </a:r>
            <a:endParaRPr lang="en-US" sz="1300" dirty="0"/>
          </a:p>
        </p:txBody>
      </p:sp>
      <p:sp>
        <p:nvSpPr>
          <p:cNvPr id="17" name="Text 15"/>
          <p:cNvSpPr/>
          <p:nvPr/>
        </p:nvSpPr>
        <p:spPr>
          <a:xfrm>
            <a:off x="9061450" y="2114500"/>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261C"/>
                </a:solidFill>
                <a:latin typeface="DM Sans" pitchFamily="34" charset="0"/>
                <a:ea typeface="DM Sans" pitchFamily="34" charset="-122"/>
                <a:cs typeface="DM Sans" pitchFamily="34" charset="-120"/>
              </a:rPr>
              <a:t>Sonuç</a:t>
            </a:r>
            <a:endParaRPr lang="en-US" sz="1700" dirty="0"/>
          </a:p>
        </p:txBody>
      </p:sp>
      <p:sp>
        <p:nvSpPr>
          <p:cNvPr id="18" name="Text 16"/>
          <p:cNvSpPr/>
          <p:nvPr/>
        </p:nvSpPr>
        <p:spPr>
          <a:xfrm>
            <a:off x="9061450" y="2462461"/>
            <a:ext cx="21714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Alıcı bankanın alacak kaydı (ACCC) ya da red (RJCT)</a:t>
            </a:r>
            <a:endParaRPr lang="en-US" sz="1300" dirty="0"/>
          </a:p>
        </p:txBody>
      </p:sp>
      <p:sp>
        <p:nvSpPr>
          <p:cNvPr id="19" name="Text 17"/>
          <p:cNvSpPr/>
          <p:nvPr/>
        </p:nvSpPr>
        <p:spPr>
          <a:xfrm>
            <a:off x="812800" y="3670201"/>
            <a:ext cx="3420517" cy="434330"/>
          </a:xfrm>
          <a:prstGeom prst="roundRect">
            <a:avLst>
              <a:gd name="adj" fmla="val 50000"/>
            </a:avLst>
          </a:prstGeom>
          <a:solidFill>
            <a:srgbClr val="E3ECF9"/>
          </a:solidFill>
          <a:ln/>
        </p:spPr>
        <p:txBody>
          <a:bodyPr wrap="square" lIns="114195" tIns="37995" rIns="22247" bIns="12595" rtlCol="0" anchor="t">
            <a:normAutofit/>
          </a:bodyPr>
          <a:lstStyle/>
          <a:p>
            <a:pPr algn="l" indent="0" marL="0">
              <a:lnSpc>
                <a:spcPts val="1820"/>
              </a:lnSpc>
              <a:buNone/>
            </a:pPr>
            <a:r>
              <a:rPr lang="en-US" sz="1300" b="1" dirty="0">
                <a:solidFill>
                  <a:srgbClr val="1D4FA8"/>
                </a:solidFill>
                <a:latin typeface="DM Sans" pitchFamily="34" charset="0"/>
                <a:ea typeface="DM Sans" pitchFamily="34" charset="-122"/>
                <a:cs typeface="DM Sans" pitchFamily="34" charset="-120"/>
              </a:rPr>
              <a:t>Muhabir ağı süresi</a:t>
            </a:r>
            <a:r>
              <a:rPr lang="en-US" sz="1300" dirty="0">
                <a:solidFill>
                  <a:srgbClr val="1D4FA8"/>
                </a:solidFill>
                <a:latin typeface="DM Sans" pitchFamily="34" charset="0"/>
                <a:ea typeface="DM Sans" pitchFamily="34" charset="-122"/>
                <a:cs typeface="DM Sans" pitchFamily="34" charset="-120"/>
              </a:rPr>
              <a:t> = ulaşma − çıkış</a:t>
            </a:r>
            <a:endParaRPr lang="en-US" sz="1300" dirty="0"/>
          </a:p>
        </p:txBody>
      </p:sp>
      <p:sp>
        <p:nvSpPr>
          <p:cNvPr id="20" name="Text 18"/>
          <p:cNvSpPr/>
          <p:nvPr/>
        </p:nvSpPr>
        <p:spPr>
          <a:xfrm>
            <a:off x="4385717" y="3670201"/>
            <a:ext cx="3420566" cy="434330"/>
          </a:xfrm>
          <a:prstGeom prst="roundRect">
            <a:avLst>
              <a:gd name="adj" fmla="val 50000"/>
            </a:avLst>
          </a:prstGeom>
          <a:solidFill>
            <a:srgbClr val="F8E5DA"/>
          </a:solidFill>
          <a:ln/>
        </p:spPr>
        <p:txBody>
          <a:bodyPr wrap="square" lIns="114195" tIns="37995" rIns="22246" bIns="12595" rtlCol="0" anchor="t">
            <a:normAutofit/>
          </a:bodyPr>
          <a:lstStyle/>
          <a:p>
            <a:pPr algn="l" indent="0" marL="0">
              <a:lnSpc>
                <a:spcPts val="1820"/>
              </a:lnSpc>
              <a:buNone/>
            </a:pPr>
            <a:r>
              <a:rPr lang="en-US" sz="1300" b="1" dirty="0">
                <a:solidFill>
                  <a:srgbClr val="9A4119"/>
                </a:solidFill>
                <a:latin typeface="DM Sans" pitchFamily="34" charset="0"/>
                <a:ea typeface="DM Sans" pitchFamily="34" charset="-122"/>
                <a:cs typeface="DM Sans" pitchFamily="34" charset="-120"/>
              </a:rPr>
              <a:t>Alıcı banka süresi</a:t>
            </a:r>
            <a:r>
              <a:rPr lang="en-US" sz="1300" dirty="0">
                <a:solidFill>
                  <a:srgbClr val="9A4119"/>
                </a:solidFill>
                <a:latin typeface="DM Sans" pitchFamily="34" charset="0"/>
                <a:ea typeface="DM Sans" pitchFamily="34" charset="-122"/>
                <a:cs typeface="DM Sans" pitchFamily="34" charset="-120"/>
              </a:rPr>
              <a:t> = sonuç − ulaşma</a:t>
            </a:r>
            <a:endParaRPr lang="en-US" sz="1300" dirty="0"/>
          </a:p>
        </p:txBody>
      </p:sp>
      <p:sp>
        <p:nvSpPr>
          <p:cNvPr id="21" name="Text 19"/>
          <p:cNvSpPr/>
          <p:nvPr/>
        </p:nvSpPr>
        <p:spPr>
          <a:xfrm>
            <a:off x="7958683" y="3670201"/>
            <a:ext cx="3420517" cy="434330"/>
          </a:xfrm>
          <a:prstGeom prst="roundRect">
            <a:avLst>
              <a:gd name="adj" fmla="val 50000"/>
            </a:avLst>
          </a:prstGeom>
          <a:solidFill>
            <a:srgbClr val="DCEFE3"/>
          </a:solidFill>
          <a:ln/>
        </p:spPr>
        <p:txBody>
          <a:bodyPr wrap="square" lIns="114195" tIns="37995" rIns="22247" bIns="12595" rtlCol="0" anchor="t">
            <a:normAutofit/>
          </a:bodyPr>
          <a:lstStyle/>
          <a:p>
            <a:pPr algn="l" indent="0" marL="0">
              <a:lnSpc>
                <a:spcPts val="1820"/>
              </a:lnSpc>
              <a:buNone/>
            </a:pPr>
            <a:r>
              <a:rPr lang="en-US" sz="1300" b="1" dirty="0">
                <a:solidFill>
                  <a:srgbClr val="0B5A2C"/>
                </a:solidFill>
                <a:latin typeface="DM Sans" pitchFamily="34" charset="0"/>
                <a:ea typeface="DM Sans" pitchFamily="34" charset="-122"/>
                <a:cs typeface="DM Sans" pitchFamily="34" charset="-120"/>
              </a:rPr>
              <a:t>İşlem süresi</a:t>
            </a:r>
            <a:r>
              <a:rPr lang="en-US" sz="1300" dirty="0">
                <a:solidFill>
                  <a:srgbClr val="0B5A2C"/>
                </a:solidFill>
                <a:latin typeface="DM Sans" pitchFamily="34" charset="0"/>
                <a:ea typeface="DM Sans" pitchFamily="34" charset="-122"/>
                <a:cs typeface="DM Sans" pitchFamily="34" charset="-120"/>
              </a:rPr>
              <a:t> = ikisinin toplamı</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73"/>
                </a:solidFill>
                <a:latin typeface="DM Sans" pitchFamily="34" charset="0"/>
                <a:ea typeface="DM Sans" pitchFamily="34" charset="-122"/>
                <a:cs typeface="DM Sans" pitchFamily="34" charset="-120"/>
              </a:rPr>
              <a:t>Kaynaklar: SwiftJournal · GPIJournal (gpi olay zamanları) · Exchange  ·  Ortalamalar P95 ile uç değerler hariç hesaplanır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61C"/>
                </a:solidFill>
                <a:latin typeface="DM Sans" pitchFamily="34" charset="0"/>
                <a:ea typeface="DM Sans" pitchFamily="34" charset="-122"/>
                <a:cs typeface="DM Sans" pitchFamily="34" charset="-120"/>
              </a:rPr>
              <a:t>Platform: tek ekranda ödeme performansı</a:t>
            </a:r>
            <a:endParaRPr lang="en-US" sz="3200" dirty="0"/>
          </a:p>
        </p:txBody>
      </p:sp>
      <p:sp>
        <p:nvSpPr>
          <p:cNvPr id="3" name="Text 1"/>
          <p:cNvSpPr/>
          <p:nvPr/>
        </p:nvSpPr>
        <p:spPr>
          <a:xfrm>
            <a:off x="812800" y="1534120"/>
            <a:ext cx="3139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A3C"/>
                </a:solidFill>
                <a:latin typeface="DM Sans" pitchFamily="34" charset="0"/>
                <a:ea typeface="DM Sans" pitchFamily="34" charset="-122"/>
                <a:cs typeface="DM Sans" pitchFamily="34" charset="-120"/>
              </a:rPr>
              <a:t>Genel Bakış</a:t>
            </a:r>
            <a:endParaRPr lang="en-US" sz="1600" dirty="0"/>
          </a:p>
        </p:txBody>
      </p:sp>
      <p:sp>
        <p:nvSpPr>
          <p:cNvPr id="4" name="Text 2"/>
          <p:cNvSpPr/>
          <p:nvPr/>
        </p:nvSpPr>
        <p:spPr>
          <a:xfrm>
            <a:off x="812800" y="1816050"/>
            <a:ext cx="313944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Ortalama süre, aynı gün oranı, aşama dağılımı ve sonuç durumu</a:t>
            </a:r>
            <a:endParaRPr lang="en-US" sz="1300" dirty="0"/>
          </a:p>
        </p:txBody>
      </p:sp>
      <p:sp>
        <p:nvSpPr>
          <p:cNvPr id="5" name="Text 3"/>
          <p:cNvSpPr/>
          <p:nvPr/>
        </p:nvSpPr>
        <p:spPr>
          <a:xfrm>
            <a:off x="812800" y="2456111"/>
            <a:ext cx="3139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A3C"/>
                </a:solidFill>
                <a:latin typeface="DM Sans" pitchFamily="34" charset="0"/>
                <a:ea typeface="DM Sans" pitchFamily="34" charset="-122"/>
                <a:cs typeface="DM Sans" pitchFamily="34" charset="-120"/>
              </a:rPr>
              <a:t>Esnek filtreler</a:t>
            </a:r>
            <a:endParaRPr lang="en-US" sz="1600" dirty="0"/>
          </a:p>
        </p:txBody>
      </p:sp>
      <p:sp>
        <p:nvSpPr>
          <p:cNvPr id="6" name="Text 4"/>
          <p:cNvSpPr/>
          <p:nvPr/>
        </p:nvSpPr>
        <p:spPr>
          <a:xfrm>
            <a:off x="812800" y="2738041"/>
            <a:ext cx="313944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Tarih, döviz, ülke, alıcı banka, muhabir, işlem tipi; ülke bayrağı ve banka amblemiyle</a:t>
            </a:r>
            <a:endParaRPr lang="en-US" sz="1300" dirty="0"/>
          </a:p>
        </p:txBody>
      </p:sp>
      <p:sp>
        <p:nvSpPr>
          <p:cNvPr id="7" name="Text 5"/>
          <p:cNvSpPr/>
          <p:nvPr/>
        </p:nvSpPr>
        <p:spPr>
          <a:xfrm>
            <a:off x="812800" y="3609231"/>
            <a:ext cx="3139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A3C"/>
                </a:solidFill>
                <a:latin typeface="DM Sans" pitchFamily="34" charset="0"/>
                <a:ea typeface="DM Sans" pitchFamily="34" charset="-122"/>
                <a:cs typeface="DM Sans" pitchFamily="34" charset="-120"/>
              </a:rPr>
              <a:t>10 sayfa</a:t>
            </a:r>
            <a:endParaRPr lang="en-US" sz="1600" dirty="0"/>
          </a:p>
        </p:txBody>
      </p:sp>
      <p:sp>
        <p:nvSpPr>
          <p:cNvPr id="8" name="Text 6"/>
          <p:cNvSpPr/>
          <p:nvPr/>
        </p:nvSpPr>
        <p:spPr>
          <a:xfrm>
            <a:off x="812800" y="3891161"/>
            <a:ext cx="313944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Analiz, performans, tahmin, uyarı, işlem gezgini, AI asistan ve metodoloji</a:t>
            </a:r>
            <a:endParaRPr lang="en-US" sz="1300" dirty="0"/>
          </a:p>
        </p:txBody>
      </p:sp>
      <p:pic>
        <p:nvPicPr>
          <p:cNvPr id="9" name="Image 0" descr="Genel Bakış ekranı: KPI kartları, ortalama süre ve aşama dağılımı">    </p:cNvPr>
          <p:cNvPicPr>
            <a:picLocks noChangeAspect="1"/>
          </p:cNvPicPr>
          <p:nvPr/>
        </p:nvPicPr>
        <p:blipFill>
          <a:blip r:embed="rId1"/>
          <a:srcRect l="0" r="0" t="0" b="0"/>
          <a:stretch/>
        </p:blipFill>
        <p:spPr>
          <a:xfrm>
            <a:off x="4165600" y="1534120"/>
            <a:ext cx="7213600" cy="4057650"/>
          </a:xfrm>
          <a:prstGeom prst="roundRect">
            <a:avLst>
              <a:gd name="adj" fmla="val 3130"/>
            </a:avLst>
          </a:prstGeom>
          <a:effectLst>
            <a:outerShdw sx="100000" sy="100000" kx="0" ky="0" algn="bl" rotWithShape="0" blurRad="304800" dist="101600" dir="5400000">
              <a:srgbClr val="10261C">
                <a:alpha val="22000"/>
              </a:srgbClr>
            </a:outerShdw>
          </a:effectLst>
        </p:spPr>
      </p:pic>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73"/>
                </a:solidFill>
                <a:latin typeface="DM Sans" pitchFamily="34" charset="0"/>
                <a:ea typeface="DM Sans" pitchFamily="34" charset="-122"/>
                <a:cs typeface="DM Sans" pitchFamily="34" charset="-120"/>
              </a:rPr>
              <a:t>SWIFT gpi Pulse · 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61C"/>
                </a:solidFill>
                <a:latin typeface="DM Sans" pitchFamily="34" charset="0"/>
                <a:ea typeface="DM Sans" pitchFamily="34" charset="-122"/>
                <a:cs typeface="DM Sans" pitchFamily="34" charset="-120"/>
              </a:rPr>
              <a:t>Süre analizi: nerede ve ne zaman yavaşlıyor?</a:t>
            </a:r>
            <a:endParaRPr lang="en-US" sz="3200" dirty="0"/>
          </a:p>
        </p:txBody>
      </p:sp>
      <p:pic>
        <p:nvPicPr>
          <p:cNvPr id="3" name="Image 0" descr="Dünya Haritası: ülkelere ödeme akışlarını gösteren 3D küre">    </p:cNvPr>
          <p:cNvPicPr>
            <a:picLocks noChangeAspect="1"/>
          </p:cNvPicPr>
          <p:nvPr/>
        </p:nvPicPr>
        <p:blipFill>
          <a:blip r:embed="rId1"/>
          <a:srcRect l="0" r="0" t="5591" b="5591"/>
          <a:stretch/>
        </p:blipFill>
        <p:spPr>
          <a:xfrm>
            <a:off x="812800" y="1534120"/>
            <a:ext cx="5130800" cy="3048000"/>
          </a:xfrm>
          <a:prstGeom prst="roundRect">
            <a:avLst>
              <a:gd name="adj" fmla="val 4167"/>
            </a:avLst>
          </a:prstGeom>
          <a:effectLst>
            <a:outerShdw sx="100000" sy="100000" kx="0" ky="0" algn="bl" rotWithShape="0" blurRad="304800" dist="101600" dir="5400000">
              <a:srgbClr val="10261C">
                <a:alpha val="22000"/>
              </a:srgbClr>
            </a:outerShdw>
          </a:effectLst>
        </p:spPr>
      </p:pic>
      <p:sp>
        <p:nvSpPr>
          <p:cNvPr id="4" name="Text 1"/>
          <p:cNvSpPr/>
          <p:nvPr/>
        </p:nvSpPr>
        <p:spPr>
          <a:xfrm>
            <a:off x="812800" y="4683720"/>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A3C"/>
                </a:solidFill>
                <a:latin typeface="DM Sans" pitchFamily="34" charset="0"/>
                <a:ea typeface="DM Sans" pitchFamily="34" charset="-122"/>
                <a:cs typeface="DM Sans" pitchFamily="34" charset="-120"/>
              </a:rPr>
              <a:t>Dünya Haritası</a:t>
            </a:r>
            <a:endParaRPr lang="en-US" sz="1600" dirty="0"/>
          </a:p>
        </p:txBody>
      </p:sp>
      <p:sp>
        <p:nvSpPr>
          <p:cNvPr id="5" name="Text 2"/>
          <p:cNvSpPr/>
          <p:nvPr/>
        </p:nvSpPr>
        <p:spPr>
          <a:xfrm>
            <a:off x="812800" y="5029150"/>
            <a:ext cx="528472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Döndürülebilir 3D küre: ülkelere akışlar, renk ortalama süreyi gösterir</a:t>
            </a:r>
            <a:endParaRPr lang="en-US" sz="1300" dirty="0"/>
          </a:p>
        </p:txBody>
      </p:sp>
      <p:pic>
        <p:nvPicPr>
          <p:cNvPr id="6" name="Image 1" descr="Süreç Analizi: ülke bazında aşama süreleri ve gönderim saati etkisi">    </p:cNvPr>
          <p:cNvPicPr>
            <a:picLocks noChangeAspect="1"/>
          </p:cNvPicPr>
          <p:nvPr/>
        </p:nvPicPr>
        <p:blipFill>
          <a:blip r:embed="rId2"/>
          <a:srcRect l="0" r="0" t="5591" b="5591"/>
          <a:stretch/>
        </p:blipFill>
        <p:spPr>
          <a:xfrm>
            <a:off x="6248400" y="1534120"/>
            <a:ext cx="5130800" cy="3048000"/>
          </a:xfrm>
          <a:prstGeom prst="roundRect">
            <a:avLst>
              <a:gd name="adj" fmla="val 4167"/>
            </a:avLst>
          </a:prstGeom>
          <a:effectLst>
            <a:outerShdw sx="100000" sy="100000" kx="0" ky="0" algn="bl" rotWithShape="0" blurRad="304800" dist="101600" dir="5400000">
              <a:srgbClr val="10261C">
                <a:alpha val="22000"/>
              </a:srgbClr>
            </a:outerShdw>
          </a:effectLst>
        </p:spPr>
      </p:pic>
      <p:sp>
        <p:nvSpPr>
          <p:cNvPr id="7" name="Text 3"/>
          <p:cNvSpPr/>
          <p:nvPr/>
        </p:nvSpPr>
        <p:spPr>
          <a:xfrm>
            <a:off x="6248400" y="4683720"/>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A3C"/>
                </a:solidFill>
                <a:latin typeface="DM Sans" pitchFamily="34" charset="0"/>
                <a:ea typeface="DM Sans" pitchFamily="34" charset="-122"/>
                <a:cs typeface="DM Sans" pitchFamily="34" charset="-120"/>
              </a:rPr>
              <a:t>Süreç Analizi</a:t>
            </a:r>
            <a:endParaRPr lang="en-US" sz="1600" dirty="0"/>
          </a:p>
        </p:txBody>
      </p:sp>
      <p:sp>
        <p:nvSpPr>
          <p:cNvPr id="8" name="Text 4"/>
          <p:cNvSpPr/>
          <p:nvPr/>
        </p:nvSpPr>
        <p:spPr>
          <a:xfrm>
            <a:off x="6248400" y="5029150"/>
            <a:ext cx="528472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Ülke ve döviz bazında aşama süreleri, saat × gün ısı haritası, kesim saati etkisi</a:t>
            </a:r>
            <a:endParaRPr lang="en-US" sz="13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73"/>
                </a:solidFill>
                <a:latin typeface="DM Sans" pitchFamily="34" charset="0"/>
                <a:ea typeface="DM Sans" pitchFamily="34" charset="-122"/>
                <a:cs typeface="DM Sans" pitchFamily="34" charset="-120"/>
              </a:rPr>
              <a:t>SWIFT gpi Pulse · 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61C"/>
                </a:solidFill>
                <a:latin typeface="DM Sans" pitchFamily="34" charset="0"/>
                <a:ea typeface="DM Sans" pitchFamily="34" charset="-122"/>
                <a:cs typeface="DM Sans" pitchFamily="34" charset="-120"/>
              </a:rPr>
              <a:t>Performans: hangi koridor, hangi banka?</a:t>
            </a:r>
            <a:endParaRPr lang="en-US" sz="3200" dirty="0"/>
          </a:p>
        </p:txBody>
      </p:sp>
      <p:pic>
        <p:nvPicPr>
          <p:cNvPr id="3" name="Image 0" descr="Koridorlar: Türkiye koridorunda muhabir ve alıcı banka bazında süreler">    </p:cNvPr>
          <p:cNvPicPr>
            <a:picLocks noChangeAspect="1"/>
          </p:cNvPicPr>
          <p:nvPr/>
        </p:nvPicPr>
        <p:blipFill>
          <a:blip r:embed="rId1"/>
          <a:srcRect l="0" r="0" t="5591" b="5591"/>
          <a:stretch/>
        </p:blipFill>
        <p:spPr>
          <a:xfrm>
            <a:off x="812800" y="1534120"/>
            <a:ext cx="5130800" cy="3048000"/>
          </a:xfrm>
          <a:prstGeom prst="roundRect">
            <a:avLst>
              <a:gd name="adj" fmla="val 4167"/>
            </a:avLst>
          </a:prstGeom>
          <a:effectLst>
            <a:outerShdw sx="100000" sy="100000" kx="0" ky="0" algn="bl" rotWithShape="0" blurRad="304800" dist="101600" dir="5400000">
              <a:srgbClr val="10261C">
                <a:alpha val="22000"/>
              </a:srgbClr>
            </a:outerShdw>
          </a:effectLst>
        </p:spPr>
      </p:pic>
      <p:sp>
        <p:nvSpPr>
          <p:cNvPr id="4" name="Text 1"/>
          <p:cNvSpPr/>
          <p:nvPr/>
        </p:nvSpPr>
        <p:spPr>
          <a:xfrm>
            <a:off x="812800" y="4683720"/>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A3C"/>
                </a:solidFill>
                <a:latin typeface="DM Sans" pitchFamily="34" charset="0"/>
                <a:ea typeface="DM Sans" pitchFamily="34" charset="-122"/>
                <a:cs typeface="DM Sans" pitchFamily="34" charset="-120"/>
              </a:rPr>
              <a:t>Koridorlar</a:t>
            </a:r>
            <a:endParaRPr lang="en-US" sz="1600" dirty="0"/>
          </a:p>
        </p:txBody>
      </p:sp>
      <p:sp>
        <p:nvSpPr>
          <p:cNvPr id="5" name="Text 2"/>
          <p:cNvSpPr/>
          <p:nvPr/>
        </p:nvSpPr>
        <p:spPr>
          <a:xfrm>
            <a:off x="812800" y="5029150"/>
            <a:ext cx="528472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Ülke → muhabir → alıcı banka; en hızlı rotalar ve döviz bazında karşılaştırma</a:t>
            </a:r>
            <a:endParaRPr lang="en-US" sz="1300" dirty="0"/>
          </a:p>
        </p:txBody>
      </p:sp>
      <p:pic>
        <p:nvPicPr>
          <p:cNvPr id="6" name="Image 1" descr="Banka Karnesi: alıcı bankaların skor ve not sıralaması">    </p:cNvPr>
          <p:cNvPicPr>
            <a:picLocks noChangeAspect="1"/>
          </p:cNvPicPr>
          <p:nvPr/>
        </p:nvPicPr>
        <p:blipFill>
          <a:blip r:embed="rId2"/>
          <a:srcRect l="0" r="0" t="5591" b="5591"/>
          <a:stretch/>
        </p:blipFill>
        <p:spPr>
          <a:xfrm>
            <a:off x="6248400" y="1534120"/>
            <a:ext cx="5130800" cy="3048000"/>
          </a:xfrm>
          <a:prstGeom prst="roundRect">
            <a:avLst>
              <a:gd name="adj" fmla="val 4167"/>
            </a:avLst>
          </a:prstGeom>
          <a:effectLst>
            <a:outerShdw sx="100000" sy="100000" kx="0" ky="0" algn="bl" rotWithShape="0" blurRad="304800" dist="101600" dir="5400000">
              <a:srgbClr val="10261C">
                <a:alpha val="22000"/>
              </a:srgbClr>
            </a:outerShdw>
          </a:effectLst>
        </p:spPr>
      </p:pic>
      <p:sp>
        <p:nvSpPr>
          <p:cNvPr id="7" name="Text 3"/>
          <p:cNvSpPr/>
          <p:nvPr/>
        </p:nvSpPr>
        <p:spPr>
          <a:xfrm>
            <a:off x="6248400" y="4683720"/>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A3C"/>
                </a:solidFill>
                <a:latin typeface="DM Sans" pitchFamily="34" charset="0"/>
                <a:ea typeface="DM Sans" pitchFamily="34" charset="-122"/>
                <a:cs typeface="DM Sans" pitchFamily="34" charset="-120"/>
              </a:rPr>
              <a:t>Banka Karnesi</a:t>
            </a:r>
            <a:endParaRPr lang="en-US" sz="1600" dirty="0"/>
          </a:p>
        </p:txBody>
      </p:sp>
      <p:sp>
        <p:nvSpPr>
          <p:cNvPr id="8" name="Text 4"/>
          <p:cNvSpPr/>
          <p:nvPr/>
        </p:nvSpPr>
        <p:spPr>
          <a:xfrm>
            <a:off x="6248400" y="5029150"/>
            <a:ext cx="528472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84D"/>
                </a:solidFill>
                <a:latin typeface="DM Sans" pitchFamily="34" charset="0"/>
                <a:ea typeface="DM Sans" pitchFamily="34" charset="-122"/>
                <a:cs typeface="DM Sans" pitchFamily="34" charset="-120"/>
              </a:rPr>
              <a:t>Alıcı ve muhabir bankalara 0–100 skor ve A–E not: hız, tutarlılık, aynı gün, red</a:t>
            </a:r>
            <a:endParaRPr lang="en-US" sz="13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73"/>
                </a:solidFill>
                <a:latin typeface="DM Sans" pitchFamily="34" charset="0"/>
                <a:ea typeface="DM Sans" pitchFamily="34" charset="-122"/>
                <a:cs typeface="DM Sans" pitchFamily="34" charset="-120"/>
              </a:rPr>
              <a:t>SWIFT gpi Pulse ·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61C"/>
                </a:solidFill>
                <a:latin typeface="DM Sans" pitchFamily="34" charset="0"/>
                <a:ea typeface="DM Sans" pitchFamily="34" charset="-122"/>
                <a:cs typeface="DM Sans" pitchFamily="34" charset="-120"/>
              </a:rPr>
              <a:t>Tahminleme: müşteriye somut süre</a:t>
            </a:r>
            <a:endParaRPr lang="en-US" sz="3200" dirty="0"/>
          </a:p>
        </p:txBody>
      </p:sp>
      <p:pic>
        <p:nvPicPr>
          <p:cNvPr id="3" name="Image 0" descr="Tahminleme ekranı: USD Türkiye ödemesi için olasılıklı varış zamanları ve müşteri metni">    </p:cNvPr>
          <p:cNvPicPr>
            <a:picLocks noChangeAspect="1"/>
          </p:cNvPicPr>
          <p:nvPr/>
        </p:nvPicPr>
        <p:blipFill>
          <a:blip r:embed="rId1"/>
          <a:srcRect l="0" r="0" t="-16" b="-16"/>
          <a:stretch/>
        </p:blipFill>
        <p:spPr>
          <a:xfrm>
            <a:off x="812800" y="1534120"/>
            <a:ext cx="6197600" cy="4146550"/>
          </a:xfrm>
          <a:prstGeom prst="roundRect">
            <a:avLst>
              <a:gd name="adj" fmla="val 3063"/>
            </a:avLst>
          </a:prstGeom>
          <a:effectLst>
            <a:outerShdw sx="100000" sy="100000" kx="0" ky="0" algn="bl" rotWithShape="0" blurRad="304800" dist="101600" dir="5400000">
              <a:srgbClr val="10261C">
                <a:alpha val="22000"/>
              </a:srgbClr>
            </a:outerShdw>
          </a:effectLst>
        </p:spPr>
      </p:pic>
      <p:sp>
        <p:nvSpPr>
          <p:cNvPr id="4" name="Text 1"/>
          <p:cNvSpPr/>
          <p:nvPr/>
        </p:nvSpPr>
        <p:spPr>
          <a:xfrm>
            <a:off x="7315200" y="1534120"/>
            <a:ext cx="418592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3584D"/>
                </a:solidFill>
                <a:latin typeface="DM Sans" pitchFamily="34" charset="0"/>
                <a:ea typeface="DM Sans" pitchFamily="34" charset="-122"/>
                <a:cs typeface="DM Sans" pitchFamily="34" charset="-120"/>
              </a:rPr>
              <a:t>Döviz, ülke, banka ve gönderim saatini girin; platform geçmişteki benzer ödemelerden varış zamanını hesaplar.</a:t>
            </a:r>
            <a:endParaRPr lang="en-US" sz="1400" dirty="0"/>
          </a:p>
        </p:txBody>
      </p:sp>
      <p:sp>
        <p:nvSpPr>
          <p:cNvPr id="5" name="Shape 2"/>
          <p:cNvSpPr/>
          <p:nvPr/>
        </p:nvSpPr>
        <p:spPr>
          <a:xfrm>
            <a:off x="7318375" y="2488406"/>
            <a:ext cx="4057650" cy="1565870"/>
          </a:xfrm>
          <a:prstGeom prst="roundRect">
            <a:avLst>
              <a:gd name="adj" fmla="val 7908"/>
            </a:avLst>
          </a:prstGeom>
          <a:solidFill>
            <a:srgbClr val="FBFCF9"/>
          </a:solidFill>
          <a:ln w="6350">
            <a:solidFill>
              <a:srgbClr val="D5E0D7"/>
            </a:solidFill>
            <a:prstDash val="solid"/>
          </a:ln>
        </p:spPr>
      </p:sp>
      <p:sp>
        <p:nvSpPr>
          <p:cNvPr id="6" name="Text 3"/>
          <p:cNvSpPr/>
          <p:nvPr/>
        </p:nvSpPr>
        <p:spPr>
          <a:xfrm>
            <a:off x="7499350" y="2669381"/>
            <a:ext cx="380657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A3C"/>
                </a:solidFill>
                <a:latin typeface="DM Sans" pitchFamily="34" charset="0"/>
                <a:ea typeface="DM Sans" pitchFamily="34" charset="-122"/>
                <a:cs typeface="DM Sans" pitchFamily="34" charset="-120"/>
              </a:rPr>
              <a:t>ÖRNEK · USD → TÜRKIYE</a:t>
            </a:r>
            <a:endParaRPr lang="en-US" sz="1200" dirty="0"/>
          </a:p>
        </p:txBody>
      </p:sp>
      <p:sp>
        <p:nvSpPr>
          <p:cNvPr id="7" name="Text 4"/>
          <p:cNvSpPr/>
          <p:nvPr/>
        </p:nvSpPr>
        <p:spPr>
          <a:xfrm>
            <a:off x="7499350" y="2946202"/>
            <a:ext cx="38065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61C"/>
                </a:solidFill>
                <a:latin typeface="DM Sans" pitchFamily="34" charset="0"/>
                <a:ea typeface="DM Sans" pitchFamily="34" charset="-122"/>
                <a:cs typeface="DM Sans" pitchFamily="34" charset="-120"/>
              </a:rPr>
              <a:t>1,4 sa</a:t>
            </a:r>
            <a:r>
              <a:rPr lang="en-US" sz="1500" dirty="0">
                <a:solidFill>
                  <a:srgbClr val="10261C"/>
                </a:solidFill>
                <a:latin typeface="DM Sans" pitchFamily="34" charset="0"/>
                <a:ea typeface="DM Sans" pitchFamily="34" charset="-122"/>
                <a:cs typeface="DM Sans" pitchFamily="34" charset="-120"/>
              </a:rPr>
              <a:t> ortalama</a:t>
            </a:r>
            <a:endParaRPr lang="en-US" sz="1500" dirty="0"/>
          </a:p>
        </p:txBody>
      </p:sp>
      <p:sp>
        <p:nvSpPr>
          <p:cNvPr id="8" name="Text 5"/>
          <p:cNvSpPr/>
          <p:nvPr/>
        </p:nvSpPr>
        <p:spPr>
          <a:xfrm>
            <a:off x="7499350" y="3276402"/>
            <a:ext cx="38065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61C"/>
                </a:solidFill>
                <a:latin typeface="DM Sans" pitchFamily="34" charset="0"/>
                <a:ea typeface="DM Sans" pitchFamily="34" charset="-122"/>
                <a:cs typeface="DM Sans" pitchFamily="34" charset="-120"/>
              </a:rPr>
              <a:t>5,6 sa</a:t>
            </a:r>
            <a:r>
              <a:rPr lang="en-US" sz="1500" dirty="0">
                <a:solidFill>
                  <a:srgbClr val="10261C"/>
                </a:solidFill>
                <a:latin typeface="DM Sans" pitchFamily="34" charset="0"/>
                <a:ea typeface="DM Sans" pitchFamily="34" charset="-122"/>
                <a:cs typeface="DM Sans" pitchFamily="34" charset="-120"/>
              </a:rPr>
              <a:t> içinde %90 olasılıkla</a:t>
            </a:r>
            <a:endParaRPr lang="en-US" sz="1500" dirty="0"/>
          </a:p>
        </p:txBody>
      </p:sp>
      <p:sp>
        <p:nvSpPr>
          <p:cNvPr id="9" name="Text 6"/>
          <p:cNvSpPr/>
          <p:nvPr/>
        </p:nvSpPr>
        <p:spPr>
          <a:xfrm>
            <a:off x="7499350" y="3606602"/>
            <a:ext cx="38065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61C"/>
                </a:solidFill>
                <a:latin typeface="DM Sans" pitchFamily="34" charset="0"/>
                <a:ea typeface="DM Sans" pitchFamily="34" charset="-122"/>
                <a:cs typeface="DM Sans" pitchFamily="34" charset="-120"/>
              </a:rPr>
              <a:t>%97</a:t>
            </a:r>
            <a:r>
              <a:rPr lang="en-US" sz="1500" dirty="0">
                <a:solidFill>
                  <a:srgbClr val="10261C"/>
                </a:solidFill>
                <a:latin typeface="DM Sans" pitchFamily="34" charset="0"/>
                <a:ea typeface="DM Sans" pitchFamily="34" charset="-122"/>
                <a:cs typeface="DM Sans" pitchFamily="34" charset="-120"/>
              </a:rPr>
              <a:t> aynı gün geçiş</a:t>
            </a:r>
            <a:endParaRPr lang="en-US" sz="1500" dirty="0"/>
          </a:p>
        </p:txBody>
      </p:sp>
      <p:sp>
        <p:nvSpPr>
          <p:cNvPr id="10" name="Text 7"/>
          <p:cNvSpPr/>
          <p:nvPr/>
        </p:nvSpPr>
        <p:spPr>
          <a:xfrm>
            <a:off x="7315200" y="4235252"/>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3584D"/>
                </a:solidFill>
                <a:latin typeface="DM Sans" pitchFamily="34" charset="0"/>
                <a:ea typeface="DM Sans" pitchFamily="34" charset="-122"/>
                <a:cs typeface="DM Sans" pitchFamily="34" charset="-120"/>
              </a:rPr>
              <a:t>Hazır </a:t>
            </a:r>
            <a:r>
              <a:rPr lang="en-US" sz="1400" b="1" dirty="0">
                <a:solidFill>
                  <a:srgbClr val="10261C"/>
                </a:solidFill>
                <a:latin typeface="DM Sans" pitchFamily="34" charset="0"/>
                <a:ea typeface="DM Sans" pitchFamily="34" charset="-122"/>
                <a:cs typeface="DM Sans" pitchFamily="34" charset="-120"/>
              </a:rPr>
              <a:t>müşteri bilgilendirme metni</a:t>
            </a:r>
            <a:r>
              <a:rPr lang="en-US" sz="1400" dirty="0">
                <a:solidFill>
                  <a:srgbClr val="43584D"/>
                </a:solidFill>
                <a:latin typeface="DM Sans" pitchFamily="34" charset="0"/>
                <a:ea typeface="DM Sans" pitchFamily="34" charset="-122"/>
                <a:cs typeface="DM Sans" pitchFamily="34" charset="-120"/>
              </a:rPr>
              <a:t> ve gönderim saati senaryosu üretir.</a:t>
            </a:r>
            <a:endParaRPr lang="en-US" sz="14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73"/>
                </a:solidFill>
                <a:latin typeface="DM Sans" pitchFamily="34" charset="0"/>
                <a:ea typeface="DM Sans" pitchFamily="34" charset="-122"/>
                <a:cs typeface="DM Sans" pitchFamily="34" charset="-120"/>
              </a:rPr>
              <a:t>SWIFT gpi Pulse · 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61C"/>
                </a:solidFill>
                <a:latin typeface="DM Sans" pitchFamily="34" charset="0"/>
                <a:ea typeface="DM Sans" pitchFamily="34" charset="-122"/>
                <a:cs typeface="DM Sans" pitchFamily="34" charset="-120"/>
              </a:rPr>
              <a:t>Uyarı sistemi: olağan dışını yakalamak</a:t>
            </a:r>
            <a:endParaRPr lang="en-US" sz="3200" dirty="0"/>
          </a:p>
        </p:txBody>
      </p:sp>
      <p:pic>
        <p:nvPicPr>
          <p:cNvPr id="3" name="Image 0" descr="Uyarılar ekranı: seviye kartları ve performansı bozulan bankalar listesi">    </p:cNvPr>
          <p:cNvPicPr>
            <a:picLocks noChangeAspect="1"/>
          </p:cNvPicPr>
          <p:nvPr/>
        </p:nvPicPr>
        <p:blipFill>
          <a:blip r:embed="rId1"/>
          <a:srcRect l="0" r="0" t="-16" b="-16"/>
          <a:stretch/>
        </p:blipFill>
        <p:spPr>
          <a:xfrm>
            <a:off x="812800" y="1534120"/>
            <a:ext cx="6197600" cy="4146550"/>
          </a:xfrm>
          <a:prstGeom prst="roundRect">
            <a:avLst>
              <a:gd name="adj" fmla="val 3063"/>
            </a:avLst>
          </a:prstGeom>
          <a:effectLst>
            <a:outerShdw sx="100000" sy="100000" kx="0" ky="0" algn="bl" rotWithShape="0" blurRad="304800" dist="101600" dir="5400000">
              <a:srgbClr val="10261C">
                <a:alpha val="22000"/>
              </a:srgbClr>
            </a:outerShdw>
          </a:effectLst>
        </p:spPr>
      </p:pic>
      <p:sp>
        <p:nvSpPr>
          <p:cNvPr id="4" name="Shape 1"/>
          <p:cNvSpPr/>
          <p:nvPr/>
        </p:nvSpPr>
        <p:spPr>
          <a:xfrm>
            <a:off x="7340600" y="1534120"/>
            <a:ext cx="0" cy="530820"/>
          </a:xfrm>
          <a:prstGeom prst="line">
            <a:avLst/>
          </a:prstGeom>
          <a:noFill/>
          <a:ln w="50800">
            <a:solidFill>
              <a:srgbClr val="C2362F"/>
            </a:solidFill>
            <a:prstDash val="solid"/>
          </a:ln>
        </p:spPr>
      </p:sp>
      <p:sp>
        <p:nvSpPr>
          <p:cNvPr id="5" name="Text 2"/>
          <p:cNvSpPr/>
          <p:nvPr/>
        </p:nvSpPr>
        <p:spPr>
          <a:xfrm>
            <a:off x="7518400" y="1559520"/>
            <a:ext cx="397662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12C26"/>
                </a:solidFill>
                <a:latin typeface="DM Sans" pitchFamily="34" charset="0"/>
                <a:ea typeface="DM Sans" pitchFamily="34" charset="-122"/>
                <a:cs typeface="DM Sans" pitchFamily="34" charset="-120"/>
              </a:rPr>
              <a:t>Kritik · 2.588</a:t>
            </a:r>
            <a:endParaRPr lang="en-US" sz="1400" dirty="0"/>
          </a:p>
        </p:txBody>
      </p:sp>
      <p:sp>
        <p:nvSpPr>
          <p:cNvPr id="6" name="Text 3"/>
          <p:cNvSpPr/>
          <p:nvPr/>
        </p:nvSpPr>
        <p:spPr>
          <a:xfrm>
            <a:off x="7518400" y="1833811"/>
            <a:ext cx="3976624"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3584D"/>
                </a:solidFill>
                <a:latin typeface="DM Sans" pitchFamily="34" charset="0"/>
                <a:ea typeface="DM Sans" pitchFamily="34" charset="-122"/>
                <a:cs typeface="DM Sans" pitchFamily="34" charset="-120"/>
              </a:rPr>
              <a:t>24 saati aşıp sonuçlanmayan ödemeler</a:t>
            </a:r>
            <a:endParaRPr lang="en-US" sz="1200" dirty="0"/>
          </a:p>
        </p:txBody>
      </p:sp>
      <p:sp>
        <p:nvSpPr>
          <p:cNvPr id="7" name="Shape 4"/>
          <p:cNvSpPr/>
          <p:nvPr/>
        </p:nvSpPr>
        <p:spPr>
          <a:xfrm>
            <a:off x="7340600" y="2179241"/>
            <a:ext cx="0" cy="530820"/>
          </a:xfrm>
          <a:prstGeom prst="line">
            <a:avLst/>
          </a:prstGeom>
          <a:noFill/>
          <a:ln w="50800">
            <a:solidFill>
              <a:srgbClr val="D9622B"/>
            </a:solidFill>
            <a:prstDash val="solid"/>
          </a:ln>
        </p:spPr>
      </p:sp>
      <p:sp>
        <p:nvSpPr>
          <p:cNvPr id="8" name="Text 5"/>
          <p:cNvSpPr/>
          <p:nvPr/>
        </p:nvSpPr>
        <p:spPr>
          <a:xfrm>
            <a:off x="7518400" y="2204641"/>
            <a:ext cx="397662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4119"/>
                </a:solidFill>
                <a:latin typeface="DM Sans" pitchFamily="34" charset="0"/>
                <a:ea typeface="DM Sans" pitchFamily="34" charset="-122"/>
                <a:cs typeface="DM Sans" pitchFamily="34" charset="-120"/>
              </a:rPr>
              <a:t>Yüksek · 521</a:t>
            </a:r>
            <a:endParaRPr lang="en-US" sz="1400" dirty="0"/>
          </a:p>
        </p:txBody>
      </p:sp>
      <p:sp>
        <p:nvSpPr>
          <p:cNvPr id="9" name="Text 6"/>
          <p:cNvSpPr/>
          <p:nvPr/>
        </p:nvSpPr>
        <p:spPr>
          <a:xfrm>
            <a:off x="7518400" y="2478931"/>
            <a:ext cx="3976624"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3584D"/>
                </a:solidFill>
                <a:latin typeface="DM Sans" pitchFamily="34" charset="0"/>
                <a:ea typeface="DM Sans" pitchFamily="34" charset="-122"/>
                <a:cs typeface="DM Sans" pitchFamily="34" charset="-120"/>
              </a:rPr>
              <a:t>Reddedilen ödemeler ve red nedenleri</a:t>
            </a:r>
            <a:endParaRPr lang="en-US" sz="1200" dirty="0"/>
          </a:p>
        </p:txBody>
      </p:sp>
      <p:sp>
        <p:nvSpPr>
          <p:cNvPr id="10" name="Shape 7"/>
          <p:cNvSpPr/>
          <p:nvPr/>
        </p:nvSpPr>
        <p:spPr>
          <a:xfrm>
            <a:off x="7340600" y="2824361"/>
            <a:ext cx="0" cy="530820"/>
          </a:xfrm>
          <a:prstGeom prst="line">
            <a:avLst/>
          </a:prstGeom>
          <a:noFill/>
          <a:ln w="50800">
            <a:solidFill>
              <a:srgbClr val="C89A12"/>
            </a:solidFill>
            <a:prstDash val="solid"/>
          </a:ln>
        </p:spPr>
      </p:sp>
      <p:sp>
        <p:nvSpPr>
          <p:cNvPr id="11" name="Text 8"/>
          <p:cNvSpPr/>
          <p:nvPr/>
        </p:nvSpPr>
        <p:spPr>
          <a:xfrm>
            <a:off x="7518400" y="2849761"/>
            <a:ext cx="397662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A5E08"/>
                </a:solidFill>
                <a:latin typeface="DM Sans" pitchFamily="34" charset="0"/>
                <a:ea typeface="DM Sans" pitchFamily="34" charset="-122"/>
                <a:cs typeface="DM Sans" pitchFamily="34" charset="-120"/>
              </a:rPr>
              <a:t>Orta · 3.115</a:t>
            </a:r>
            <a:endParaRPr lang="en-US" sz="1400" dirty="0"/>
          </a:p>
        </p:txBody>
      </p:sp>
      <p:sp>
        <p:nvSpPr>
          <p:cNvPr id="12" name="Text 9"/>
          <p:cNvSpPr/>
          <p:nvPr/>
        </p:nvSpPr>
        <p:spPr>
          <a:xfrm>
            <a:off x="7518400" y="3124051"/>
            <a:ext cx="3976624"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3584D"/>
                </a:solidFill>
                <a:latin typeface="DM Sans" pitchFamily="34" charset="0"/>
                <a:ea typeface="DM Sans" pitchFamily="34" charset="-122"/>
                <a:cs typeface="DM Sans" pitchFamily="34" charset="-120"/>
              </a:rPr>
              <a:t>Ülke normunun 3 katını aşan süreler</a:t>
            </a:r>
            <a:endParaRPr lang="en-US" sz="1200" dirty="0"/>
          </a:p>
        </p:txBody>
      </p:sp>
      <p:sp>
        <p:nvSpPr>
          <p:cNvPr id="13" name="Shape 10"/>
          <p:cNvSpPr/>
          <p:nvPr/>
        </p:nvSpPr>
        <p:spPr>
          <a:xfrm>
            <a:off x="7340600" y="3469481"/>
            <a:ext cx="0" cy="530820"/>
          </a:xfrm>
          <a:prstGeom prst="line">
            <a:avLst/>
          </a:prstGeom>
          <a:noFill/>
          <a:ln w="50800">
            <a:solidFill>
              <a:srgbClr val="6B7D73"/>
            </a:solidFill>
            <a:prstDash val="solid"/>
          </a:ln>
        </p:spPr>
      </p:sp>
      <p:sp>
        <p:nvSpPr>
          <p:cNvPr id="14" name="Text 11"/>
          <p:cNvSpPr/>
          <p:nvPr/>
        </p:nvSpPr>
        <p:spPr>
          <a:xfrm>
            <a:off x="7518400" y="3494881"/>
            <a:ext cx="397662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3584D"/>
                </a:solidFill>
                <a:latin typeface="DM Sans" pitchFamily="34" charset="0"/>
                <a:ea typeface="DM Sans" pitchFamily="34" charset="-122"/>
                <a:cs typeface="DM Sans" pitchFamily="34" charset="-120"/>
              </a:rPr>
              <a:t>Bilgi · 186</a:t>
            </a:r>
            <a:endParaRPr lang="en-US" sz="1400" dirty="0"/>
          </a:p>
        </p:txBody>
      </p:sp>
      <p:sp>
        <p:nvSpPr>
          <p:cNvPr id="15" name="Text 12"/>
          <p:cNvSpPr/>
          <p:nvPr/>
        </p:nvSpPr>
        <p:spPr>
          <a:xfrm>
            <a:off x="7518400" y="3769171"/>
            <a:ext cx="3976624"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3584D"/>
                </a:solidFill>
                <a:latin typeface="DM Sans" pitchFamily="34" charset="0"/>
                <a:ea typeface="DM Sans" pitchFamily="34" charset="-122"/>
                <a:cs typeface="DM Sans" pitchFamily="34" charset="-120"/>
              </a:rPr>
              <a:t>İptal talebi, aracı bankadan gelen ACCC</a:t>
            </a:r>
            <a:endParaRPr lang="en-US" sz="1200" dirty="0"/>
          </a:p>
        </p:txBody>
      </p:sp>
      <p:sp>
        <p:nvSpPr>
          <p:cNvPr id="16" name="Text 13"/>
          <p:cNvSpPr/>
          <p:nvPr/>
        </p:nvSpPr>
        <p:spPr>
          <a:xfrm>
            <a:off x="7315200" y="4114602"/>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61C"/>
                </a:solidFill>
                <a:latin typeface="DM Sans" pitchFamily="34" charset="0"/>
                <a:ea typeface="DM Sans" pitchFamily="34" charset="-122"/>
                <a:cs typeface="DM Sans" pitchFamily="34" charset="-120"/>
              </a:rPr>
              <a:t>Ayrıca son 7 günde </a:t>
            </a:r>
            <a:r>
              <a:rPr lang="en-US" sz="1300" b="1" dirty="0">
                <a:solidFill>
                  <a:srgbClr val="10261C"/>
                </a:solidFill>
                <a:latin typeface="DM Sans" pitchFamily="34" charset="0"/>
                <a:ea typeface="DM Sans" pitchFamily="34" charset="-122"/>
                <a:cs typeface="DM Sans" pitchFamily="34" charset="-120"/>
              </a:rPr>
              <a:t>performansı bozulan bankalar</a:t>
            </a:r>
            <a:r>
              <a:rPr lang="en-US" sz="1300" dirty="0">
                <a:solidFill>
                  <a:srgbClr val="10261C"/>
                </a:solidFill>
                <a:latin typeface="DM Sans" pitchFamily="34" charset="0"/>
                <a:ea typeface="DM Sans" pitchFamily="34" charset="-122"/>
                <a:cs typeface="DM Sans" pitchFamily="34" charset="-120"/>
              </a:rPr>
              <a:t> otomatik listelenir.</a:t>
            </a:r>
            <a:endParaRPr lang="en-US" sz="13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73"/>
                </a:solidFill>
                <a:latin typeface="DM Sans" pitchFamily="34" charset="0"/>
                <a:ea typeface="DM Sans" pitchFamily="34" charset="-122"/>
                <a:cs typeface="DM Sans" pitchFamily="34" charset="-120"/>
              </a:rPr>
              <a:t>SWIFT gpi Pulse · 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EEF5F0"/>
                </a:solidFill>
                <a:latin typeface="DM Sans" pitchFamily="34" charset="0"/>
                <a:ea typeface="DM Sans" pitchFamily="34" charset="-122"/>
                <a:cs typeface="DM Sans" pitchFamily="34" charset="-120"/>
              </a:rPr>
              <a:t>Sonraki adımlar</a:t>
            </a:r>
            <a:endParaRPr lang="en-US" sz="3200" dirty="0"/>
          </a:p>
        </p:txBody>
      </p:sp>
      <p:sp>
        <p:nvSpPr>
          <p:cNvPr id="3" name="Shape 1"/>
          <p:cNvSpPr/>
          <p:nvPr/>
        </p:nvSpPr>
        <p:spPr>
          <a:xfrm>
            <a:off x="815975" y="1588095"/>
            <a:ext cx="5187950" cy="1283891"/>
          </a:xfrm>
          <a:prstGeom prst="roundRect">
            <a:avLst>
              <a:gd name="adj" fmla="val 9645"/>
            </a:avLst>
          </a:prstGeom>
          <a:solidFill>
            <a:srgbClr val="FFFFFF">
              <a:alpha val="6000"/>
            </a:srgbClr>
          </a:solidFill>
          <a:ln w="6350">
            <a:solidFill>
              <a:srgbClr val="2E6A4E"/>
            </a:solidFill>
            <a:prstDash val="solid"/>
          </a:ln>
        </p:spPr>
      </p:sp>
      <p:sp>
        <p:nvSpPr>
          <p:cNvPr id="4" name="Text 2"/>
          <p:cNvSpPr/>
          <p:nvPr/>
        </p:nvSpPr>
        <p:spPr>
          <a:xfrm>
            <a:off x="1047750" y="1819870"/>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E0A0"/>
                </a:solidFill>
                <a:latin typeface="DM Sans" pitchFamily="34" charset="0"/>
                <a:ea typeface="DM Sans" pitchFamily="34" charset="-122"/>
                <a:cs typeface="DM Sans" pitchFamily="34" charset="-120"/>
              </a:rPr>
              <a:t>Otomatik veri akışı</a:t>
            </a:r>
            <a:endParaRPr lang="en-US" sz="1700" dirty="0"/>
          </a:p>
        </p:txBody>
      </p:sp>
      <p:sp>
        <p:nvSpPr>
          <p:cNvPr id="5" name="Text 3"/>
          <p:cNvSpPr/>
          <p:nvPr/>
        </p:nvSpPr>
        <p:spPr>
          <a:xfrm>
            <a:off x="1047750" y="2142430"/>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DD2"/>
                </a:solidFill>
                <a:latin typeface="DM Sans" pitchFamily="34" charset="0"/>
                <a:ea typeface="DM Sans" pitchFamily="34" charset="-122"/>
                <a:cs typeface="DM Sans" pitchFamily="34" charset="-120"/>
              </a:rPr>
              <a:t>Günlük veri çekimiyle platformun kendiliğinden güncellenmesi</a:t>
            </a:r>
            <a:endParaRPr lang="en-US" sz="1400" dirty="0"/>
          </a:p>
        </p:txBody>
      </p:sp>
      <p:sp>
        <p:nvSpPr>
          <p:cNvPr id="6" name="Shape 4"/>
          <p:cNvSpPr/>
          <p:nvPr/>
        </p:nvSpPr>
        <p:spPr>
          <a:xfrm>
            <a:off x="6188075" y="1588095"/>
            <a:ext cx="5187950" cy="1283891"/>
          </a:xfrm>
          <a:prstGeom prst="roundRect">
            <a:avLst>
              <a:gd name="adj" fmla="val 9645"/>
            </a:avLst>
          </a:prstGeom>
          <a:solidFill>
            <a:srgbClr val="FFFFFF">
              <a:alpha val="6000"/>
            </a:srgbClr>
          </a:solidFill>
          <a:ln w="6350">
            <a:solidFill>
              <a:srgbClr val="2E6A4E"/>
            </a:solidFill>
            <a:prstDash val="solid"/>
          </a:ln>
        </p:spPr>
      </p:sp>
      <p:sp>
        <p:nvSpPr>
          <p:cNvPr id="7" name="Text 5"/>
          <p:cNvSpPr/>
          <p:nvPr/>
        </p:nvSpPr>
        <p:spPr>
          <a:xfrm>
            <a:off x="6419850" y="1819870"/>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E0A0"/>
                </a:solidFill>
                <a:latin typeface="DM Sans" pitchFamily="34" charset="0"/>
                <a:ea typeface="DM Sans" pitchFamily="34" charset="-122"/>
                <a:cs typeface="DM Sans" pitchFamily="34" charset="-120"/>
              </a:rPr>
              <a:t>Müşteri iletişimi</a:t>
            </a:r>
            <a:endParaRPr lang="en-US" sz="1700" dirty="0"/>
          </a:p>
        </p:txBody>
      </p:sp>
      <p:sp>
        <p:nvSpPr>
          <p:cNvPr id="8" name="Text 6"/>
          <p:cNvSpPr/>
          <p:nvPr/>
        </p:nvSpPr>
        <p:spPr>
          <a:xfrm>
            <a:off x="6419850" y="2142430"/>
            <a:ext cx="4866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DD2"/>
                </a:solidFill>
                <a:latin typeface="DM Sans" pitchFamily="34" charset="0"/>
                <a:ea typeface="DM Sans" pitchFamily="34" charset="-122"/>
                <a:cs typeface="DM Sans" pitchFamily="34" charset="-120"/>
              </a:rPr>
              <a:t>Tahmin metinlerinin şube ve kanallarda kullanılması</a:t>
            </a:r>
            <a:endParaRPr lang="en-US" sz="1400" dirty="0"/>
          </a:p>
        </p:txBody>
      </p:sp>
      <p:sp>
        <p:nvSpPr>
          <p:cNvPr id="9" name="Shape 7"/>
          <p:cNvSpPr/>
          <p:nvPr/>
        </p:nvSpPr>
        <p:spPr>
          <a:xfrm>
            <a:off x="815975" y="3056136"/>
            <a:ext cx="5187950" cy="1035000"/>
          </a:xfrm>
          <a:prstGeom prst="roundRect">
            <a:avLst>
              <a:gd name="adj" fmla="val 11964"/>
            </a:avLst>
          </a:prstGeom>
          <a:solidFill>
            <a:srgbClr val="FFFFFF">
              <a:alpha val="6000"/>
            </a:srgbClr>
          </a:solidFill>
          <a:ln w="6350">
            <a:solidFill>
              <a:srgbClr val="2E6A4E"/>
            </a:solidFill>
            <a:prstDash val="solid"/>
          </a:ln>
        </p:spPr>
      </p:sp>
      <p:sp>
        <p:nvSpPr>
          <p:cNvPr id="10" name="Text 8"/>
          <p:cNvSpPr/>
          <p:nvPr/>
        </p:nvSpPr>
        <p:spPr>
          <a:xfrm>
            <a:off x="1047750" y="3287911"/>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E0A0"/>
                </a:solidFill>
                <a:latin typeface="DM Sans" pitchFamily="34" charset="0"/>
                <a:ea typeface="DM Sans" pitchFamily="34" charset="-122"/>
                <a:cs typeface="DM Sans" pitchFamily="34" charset="-120"/>
              </a:rPr>
              <a:t>Muhabir ve kesim saati</a:t>
            </a:r>
            <a:endParaRPr lang="en-US" sz="1700" dirty="0"/>
          </a:p>
        </p:txBody>
      </p:sp>
      <p:sp>
        <p:nvSpPr>
          <p:cNvPr id="11" name="Text 9"/>
          <p:cNvSpPr/>
          <p:nvPr/>
        </p:nvSpPr>
        <p:spPr>
          <a:xfrm>
            <a:off x="1047750" y="3610471"/>
            <a:ext cx="4866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DD2"/>
                </a:solidFill>
                <a:latin typeface="DM Sans" pitchFamily="34" charset="0"/>
                <a:ea typeface="DM Sans" pitchFamily="34" charset="-122"/>
                <a:cs typeface="DM Sans" pitchFamily="34" charset="-120"/>
              </a:rPr>
              <a:t>Karnelere göre muhabir seçimi, gönderim saati önerileri</a:t>
            </a:r>
            <a:endParaRPr lang="en-US" sz="1400" dirty="0"/>
          </a:p>
        </p:txBody>
      </p:sp>
      <p:sp>
        <p:nvSpPr>
          <p:cNvPr id="12" name="Shape 10"/>
          <p:cNvSpPr/>
          <p:nvPr/>
        </p:nvSpPr>
        <p:spPr>
          <a:xfrm>
            <a:off x="6188075" y="3056136"/>
            <a:ext cx="5187950" cy="1035000"/>
          </a:xfrm>
          <a:prstGeom prst="roundRect">
            <a:avLst>
              <a:gd name="adj" fmla="val 11964"/>
            </a:avLst>
          </a:prstGeom>
          <a:solidFill>
            <a:srgbClr val="FFFFFF">
              <a:alpha val="6000"/>
            </a:srgbClr>
          </a:solidFill>
          <a:ln w="6350">
            <a:solidFill>
              <a:srgbClr val="2E6A4E"/>
            </a:solidFill>
            <a:prstDash val="solid"/>
          </a:ln>
        </p:spPr>
      </p:sp>
      <p:sp>
        <p:nvSpPr>
          <p:cNvPr id="13" name="Text 11"/>
          <p:cNvSpPr/>
          <p:nvPr/>
        </p:nvSpPr>
        <p:spPr>
          <a:xfrm>
            <a:off x="6419850" y="3287911"/>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E0A0"/>
                </a:solidFill>
                <a:latin typeface="DM Sans" pitchFamily="34" charset="0"/>
                <a:ea typeface="DM Sans" pitchFamily="34" charset="-122"/>
                <a:cs typeface="DM Sans" pitchFamily="34" charset="-120"/>
              </a:rPr>
              <a:t>Yönetim raporu</a:t>
            </a:r>
            <a:endParaRPr lang="en-US" sz="1700" dirty="0"/>
          </a:p>
        </p:txBody>
      </p:sp>
      <p:sp>
        <p:nvSpPr>
          <p:cNvPr id="14" name="Text 12"/>
          <p:cNvSpPr/>
          <p:nvPr/>
        </p:nvSpPr>
        <p:spPr>
          <a:xfrm>
            <a:off x="6419850" y="3610471"/>
            <a:ext cx="4866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DD2"/>
                </a:solidFill>
                <a:latin typeface="DM Sans" pitchFamily="34" charset="0"/>
                <a:ea typeface="DM Sans" pitchFamily="34" charset="-122"/>
                <a:cs typeface="DM Sans" pitchFamily="34" charset="-120"/>
              </a:rPr>
              <a:t>Aylık KPI seti ve AI asistan ile doğal dilde sorgulama</a:t>
            </a:r>
            <a:endParaRPr lang="en-US" sz="1400" dirty="0"/>
          </a:p>
        </p:txBody>
      </p:sp>
      <p:sp>
        <p:nvSpPr>
          <p:cNvPr id="15" name="Text 13"/>
          <p:cNvSpPr/>
          <p:nvPr/>
        </p:nvSpPr>
        <p:spPr>
          <a:xfrm>
            <a:off x="812800" y="4399111"/>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EF5F0"/>
                </a:solidFill>
                <a:latin typeface="DM Sans" pitchFamily="34" charset="0"/>
                <a:ea typeface="DM Sans" pitchFamily="34" charset="-122"/>
                <a:cs typeface="DM Sans" pitchFamily="34" charset="-120"/>
              </a:rPr>
              <a:t>Teşekkürler · Sorular?</a:t>
            </a:r>
            <a:endParaRPr lang="en-US" sz="20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C5B5"/>
                </a:solidFill>
                <a:latin typeface="DM Sans" pitchFamily="34" charset="0"/>
                <a:ea typeface="DM Sans" pitchFamily="34" charset="-122"/>
                <a:cs typeface="DM Sans" pitchFamily="34" charset="-120"/>
              </a:rPr>
              <a:t>SWIFT gpi Pulse · Kuveyt Türk · 10</a:t>
            </a:r>
            <a:endParaRPr lang="en-US" sz="1200" dirty="0"/>
          </a:p>
        </p:txBody>
      </p:sp>
    </p:spTree>
  </p:cSld>
  <p:clrMapOvr>
    <a:masterClrMapping/>
  </p:clrMapOvr>
</p:sld>
</file>

<file path=ppt/theme/theme1.xml><?xml version="1.0" encoding="utf-8"?>
<a:theme xmlns:a="http://schemas.openxmlformats.org/drawingml/2006/main" name="SWIFT gpi Pulse — Proje ve Platform Tanıtımı">
  <a:themeElements>
    <a:clrScheme name="SWIFT gpi Pulse — Proje ve Platform Tanıtımı">
      <a:dk1>
        <a:srgbClr val="10261C"/>
      </a:dk1>
      <a:lt1>
        <a:srgbClr val="F2F5F0"/>
      </a:lt1>
      <a:dk2>
        <a:srgbClr val="495A51"/>
      </a:dk2>
      <a:lt2>
        <a:srgbClr val="DBE0DB"/>
      </a:lt2>
      <a:accent1>
        <a:srgbClr val="0E7A3C"/>
      </a:accent1>
      <a:accent2>
        <a:srgbClr val="5FE0A0"/>
      </a:accent2>
      <a:accent3>
        <a:srgbClr val="2F6FE0"/>
      </a:accent3>
      <a:accent4>
        <a:srgbClr val="B4501F"/>
      </a:accent4>
      <a:accent5>
        <a:srgbClr val="9A4119"/>
      </a:accent5>
      <a:accent6>
        <a:srgbClr val="13563A"/>
      </a:accent6>
      <a:hlink>
        <a:srgbClr val="0563C1"/>
      </a:hlink>
      <a:folHlink>
        <a:srgbClr val="954F72"/>
      </a:folHlink>
    </a:clrScheme>
    <a:fontScheme name="SWIFT gpi Pulse — Proje ve Platform Tanıtımı">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SWIFT gpi Pulse — Proje ve Platform Tanıtımı</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2026-10-26T16:46:31Z</dcterms:created>
  <dcterms:modified xsi:type="dcterms:W3CDTF">2026-10-26T16:46:31Z</dcterms:modified>
</cp:coreProperties>
</file>